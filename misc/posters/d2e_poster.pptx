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14630400" cx="292608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42900" y="1143000"/>
            <a:ext cx="6172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8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60c69ddee_0_335:notes"/>
          <p:cNvSpPr/>
          <p:nvPr>
            <p:ph idx="2" type="sldImg"/>
          </p:nvPr>
        </p:nvSpPr>
        <p:spPr>
          <a:xfrm>
            <a:off x="342900" y="1143000"/>
            <a:ext cx="6172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60c69ddee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60c69ddee_0_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657600" y="2394374"/>
            <a:ext cx="21945600" cy="50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Calibri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657600" y="7684348"/>
            <a:ext cx="21945600" cy="3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lvl="0" algn="ctr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lvl="1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None/>
              <a:defRPr sz="4266"/>
            </a:lvl2pPr>
            <a:lvl3pPr lvl="2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lvl="3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4pPr>
            <a:lvl5pPr lvl="4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5pPr>
            <a:lvl6pPr lvl="5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6pPr>
            <a:lvl7pPr lvl="6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7pPr>
            <a:lvl8pPr lvl="7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8pPr>
            <a:lvl9pPr lvl="8" algn="ctr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011680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011680" y="3894666"/>
            <a:ext cx="25237500" cy="9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1996440" y="3647442"/>
            <a:ext cx="25237500" cy="60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Calibri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996440" y="9790856"/>
            <a:ext cx="25237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4266"/>
              <a:buNone/>
              <a:defRPr sz="426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840"/>
              <a:buNone/>
              <a:defRPr sz="384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rgbClr val="888888"/>
              </a:buClr>
              <a:buSzPts val="3414"/>
              <a:buNone/>
              <a:defRPr sz="341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2011680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011680" y="3894666"/>
            <a:ext cx="12435900" cy="9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14813280" y="3894666"/>
            <a:ext cx="12435900" cy="9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015492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2015492" y="3586482"/>
            <a:ext cx="123786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20"/>
            </a:lvl1pPr>
            <a:lvl2pPr indent="-2286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None/>
              <a:defRPr b="1" sz="4266"/>
            </a:lvl2pPr>
            <a:lvl3pPr indent="-2286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b="1" sz="3840"/>
            </a:lvl3pPr>
            <a:lvl4pPr indent="-2286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4pPr>
            <a:lvl5pPr indent="-2286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5pPr>
            <a:lvl6pPr indent="-2286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6pPr>
            <a:lvl7pPr indent="-2286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7pPr>
            <a:lvl8pPr indent="-2286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8pPr>
            <a:lvl9pPr indent="-2286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2015492" y="5344160"/>
            <a:ext cx="12378600" cy="78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14813280" y="3586482"/>
            <a:ext cx="124398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20"/>
            </a:lvl1pPr>
            <a:lvl2pPr indent="-2286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None/>
              <a:defRPr b="1" sz="4266"/>
            </a:lvl2pPr>
            <a:lvl3pPr indent="-2286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b="1" sz="3840"/>
            </a:lvl3pPr>
            <a:lvl4pPr indent="-2286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4pPr>
            <a:lvl5pPr indent="-2286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5pPr>
            <a:lvl6pPr indent="-2286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6pPr>
            <a:lvl7pPr indent="-2286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7pPr>
            <a:lvl8pPr indent="-2286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8pPr>
            <a:lvl9pPr indent="-2286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b="1" sz="3414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14813280" y="5344160"/>
            <a:ext cx="12439800" cy="78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2011680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2015492" y="975360"/>
            <a:ext cx="94374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26"/>
              <a:buFont typeface="Calibri"/>
              <a:buNone/>
              <a:defRPr sz="682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2439652" y="2106508"/>
            <a:ext cx="14813400" cy="10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662051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6826"/>
              <a:buChar char="•"/>
              <a:defRPr sz="6826"/>
            </a:lvl1pPr>
            <a:lvl2pPr indent="-607949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5974"/>
              <a:buChar char="•"/>
              <a:defRPr sz="5974"/>
            </a:lvl2pPr>
            <a:lvl3pPr indent="-55372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5120"/>
              <a:buChar char="•"/>
              <a:defRPr sz="5120"/>
            </a:lvl3pPr>
            <a:lvl4pPr indent="-499491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4pPr>
            <a:lvl5pPr indent="-499491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5pPr>
            <a:lvl6pPr indent="-499491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6pPr>
            <a:lvl7pPr indent="-499491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7pPr>
            <a:lvl8pPr indent="-499491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8pPr>
            <a:lvl9pPr indent="-499491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6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015492" y="4389120"/>
            <a:ext cx="9437400" cy="81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1pPr>
            <a:lvl2pPr indent="-2286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986"/>
              <a:buNone/>
              <a:defRPr sz="2986"/>
            </a:lvl2pPr>
            <a:lvl3pPr indent="-2286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  <a:defRPr sz="2560"/>
            </a:lvl3pPr>
            <a:lvl4pPr indent="-2286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4pPr>
            <a:lvl5pPr indent="-2286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5pPr>
            <a:lvl6pPr indent="-2286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6pPr>
            <a:lvl7pPr indent="-2286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7pPr>
            <a:lvl8pPr indent="-2286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8pPr>
            <a:lvl9pPr indent="-2286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015492" y="975360"/>
            <a:ext cx="94374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26"/>
              <a:buFont typeface="Calibri"/>
              <a:buNone/>
              <a:defRPr sz="682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2439652" y="2106508"/>
            <a:ext cx="14813400" cy="10397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015492" y="4389120"/>
            <a:ext cx="9437400" cy="81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414"/>
              <a:buNone/>
              <a:defRPr sz="3414"/>
            </a:lvl1pPr>
            <a:lvl2pPr indent="-2286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986"/>
              <a:buNone/>
              <a:defRPr sz="2986"/>
            </a:lvl2pPr>
            <a:lvl3pPr indent="-2286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  <a:defRPr sz="2560"/>
            </a:lvl3pPr>
            <a:lvl4pPr indent="-2286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4pPr>
            <a:lvl5pPr indent="-2286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5pPr>
            <a:lvl6pPr indent="-2286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6pPr>
            <a:lvl7pPr indent="-2286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7pPr>
            <a:lvl8pPr indent="-2286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8pPr>
            <a:lvl9pPr indent="-2286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2134"/>
              <a:buNone/>
              <a:defRPr sz="2134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2011680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9988920" y="-4082634"/>
            <a:ext cx="9282900" cy="25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7895120" y="3823634"/>
            <a:ext cx="123987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9386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093550" y="-2302816"/>
            <a:ext cx="12398700" cy="18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974"/>
            </a:lvl1pPr>
            <a:lvl2pPr indent="-457200" lvl="1" marL="914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5120"/>
            </a:lvl2pPr>
            <a:lvl3pPr indent="-457200" lvl="2" marL="1371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266"/>
            </a:lvl3pPr>
            <a:lvl4pPr indent="-457200" lvl="3" marL="1828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4pPr>
            <a:lvl5pPr indent="-457200" lvl="4" marL="22860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5pPr>
            <a:lvl6pPr indent="-457200" lvl="5" marL="27432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6pPr>
            <a:lvl7pPr indent="-457200" lvl="6" marL="32004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7pPr>
            <a:lvl8pPr indent="-457200" lvl="7" marL="36576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8pPr>
            <a:lvl9pPr indent="-457200" lvl="8" marL="411480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84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6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4148"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560"/>
            </a:lvl1pPr>
            <a:lvl2pPr indent="0" lvl="1" marL="0" algn="r">
              <a:spcBef>
                <a:spcPts val="0"/>
              </a:spcBef>
              <a:buNone/>
              <a:defRPr sz="2560"/>
            </a:lvl2pPr>
            <a:lvl3pPr indent="0" lvl="2" marL="0" algn="r">
              <a:spcBef>
                <a:spcPts val="0"/>
              </a:spcBef>
              <a:buNone/>
              <a:defRPr sz="2560"/>
            </a:lvl3pPr>
            <a:lvl4pPr indent="0" lvl="3" marL="0" algn="r">
              <a:spcBef>
                <a:spcPts val="0"/>
              </a:spcBef>
              <a:buNone/>
              <a:defRPr sz="2560"/>
            </a:lvl4pPr>
            <a:lvl5pPr indent="0" lvl="4" marL="0" algn="r">
              <a:spcBef>
                <a:spcPts val="0"/>
              </a:spcBef>
              <a:buNone/>
              <a:defRPr sz="2560"/>
            </a:lvl5pPr>
            <a:lvl6pPr indent="0" lvl="5" marL="0" algn="r">
              <a:spcBef>
                <a:spcPts val="0"/>
              </a:spcBef>
              <a:buNone/>
              <a:defRPr sz="2560"/>
            </a:lvl6pPr>
            <a:lvl7pPr indent="0" lvl="6" marL="0" algn="r">
              <a:spcBef>
                <a:spcPts val="0"/>
              </a:spcBef>
              <a:buNone/>
              <a:defRPr sz="2560"/>
            </a:lvl7pPr>
            <a:lvl8pPr indent="0" lvl="7" marL="0" algn="r">
              <a:spcBef>
                <a:spcPts val="0"/>
              </a:spcBef>
              <a:buNone/>
              <a:defRPr sz="2560"/>
            </a:lvl8pPr>
            <a:lvl9pPr indent="0" lvl="8" marL="0" algn="r">
              <a:spcBef>
                <a:spcPts val="0"/>
              </a:spcBef>
              <a:buNone/>
              <a:defRPr sz="256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011680" y="778934"/>
            <a:ext cx="25237500" cy="28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6"/>
              <a:buFont typeface="Calibri"/>
              <a:buNone/>
              <a:defRPr b="0" i="0" sz="93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011680" y="3894666"/>
            <a:ext cx="25237500" cy="9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607949" lvl="0" marL="457200" marR="0" rtl="0" algn="l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>
                <a:schemeClr val="dk1"/>
              </a:buClr>
              <a:buSzPts val="5974"/>
              <a:buFont typeface="Arial"/>
              <a:buChar char="•"/>
              <a:defRPr b="0" i="0" sz="59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53720" lvl="1" marL="9144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5120"/>
              <a:buFont typeface="Arial"/>
              <a:buChar char="•"/>
              <a:defRPr b="0" i="0" sz="5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99491" lvl="2" marL="13716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b="0" i="0" sz="42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2440" lvl="3" marL="18288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2440" lvl="4" marL="22860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2440" lvl="5" marL="27432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2440" lvl="6" marL="32004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2440" lvl="7" marL="36576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2440" lvl="8" marL="4114800" marR="0" rtl="0" algn="l">
              <a:lnSpc>
                <a:spcPct val="90000"/>
              </a:lnSpc>
              <a:spcBef>
                <a:spcPts val="1066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b="0" i="0" sz="3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01168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692640" y="13560214"/>
            <a:ext cx="9875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1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0665440" y="13560214"/>
            <a:ext cx="658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5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22" Type="http://schemas.openxmlformats.org/officeDocument/2006/relationships/image" Target="../media/image22.png"/><Relationship Id="rId21" Type="http://schemas.openxmlformats.org/officeDocument/2006/relationships/image" Target="../media/image18.png"/><Relationship Id="rId24" Type="http://schemas.openxmlformats.org/officeDocument/2006/relationships/image" Target="../media/image31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26" Type="http://schemas.openxmlformats.org/officeDocument/2006/relationships/image" Target="../media/image36.png"/><Relationship Id="rId25" Type="http://schemas.openxmlformats.org/officeDocument/2006/relationships/image" Target="../media/image21.png"/><Relationship Id="rId28" Type="http://schemas.openxmlformats.org/officeDocument/2006/relationships/image" Target="../media/image34.png"/><Relationship Id="rId27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29" Type="http://schemas.openxmlformats.org/officeDocument/2006/relationships/image" Target="../media/image35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Relationship Id="rId31" Type="http://schemas.openxmlformats.org/officeDocument/2006/relationships/image" Target="../media/image30.png"/><Relationship Id="rId30" Type="http://schemas.openxmlformats.org/officeDocument/2006/relationships/image" Target="../media/image32.png"/><Relationship Id="rId11" Type="http://schemas.openxmlformats.org/officeDocument/2006/relationships/image" Target="../media/image25.png"/><Relationship Id="rId33" Type="http://schemas.openxmlformats.org/officeDocument/2006/relationships/image" Target="../media/image24.png"/><Relationship Id="rId10" Type="http://schemas.openxmlformats.org/officeDocument/2006/relationships/image" Target="../media/image12.png"/><Relationship Id="rId32" Type="http://schemas.openxmlformats.org/officeDocument/2006/relationships/image" Target="../media/image29.png"/><Relationship Id="rId13" Type="http://schemas.openxmlformats.org/officeDocument/2006/relationships/image" Target="../media/image13.png"/><Relationship Id="rId35" Type="http://schemas.openxmlformats.org/officeDocument/2006/relationships/image" Target="../media/image26.png"/><Relationship Id="rId12" Type="http://schemas.openxmlformats.org/officeDocument/2006/relationships/image" Target="../media/image8.png"/><Relationship Id="rId34" Type="http://schemas.openxmlformats.org/officeDocument/2006/relationships/image" Target="../media/image27.png"/><Relationship Id="rId15" Type="http://schemas.openxmlformats.org/officeDocument/2006/relationships/image" Target="../media/image10.png"/><Relationship Id="rId37" Type="http://schemas.openxmlformats.org/officeDocument/2006/relationships/image" Target="../media/image20.png"/><Relationship Id="rId14" Type="http://schemas.openxmlformats.org/officeDocument/2006/relationships/image" Target="../media/image7.png"/><Relationship Id="rId36" Type="http://schemas.openxmlformats.org/officeDocument/2006/relationships/image" Target="../media/image28.png"/><Relationship Id="rId17" Type="http://schemas.openxmlformats.org/officeDocument/2006/relationships/image" Target="../media/image9.png"/><Relationship Id="rId16" Type="http://schemas.openxmlformats.org/officeDocument/2006/relationships/image" Target="../media/image15.png"/><Relationship Id="rId19" Type="http://schemas.openxmlformats.org/officeDocument/2006/relationships/image" Target="../media/image17.png"/><Relationship Id="rId1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3854126" y="-14260"/>
            <a:ext cx="215604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D2E: Scaling Vision-Action Pretraining on Desktop Data for Transfer to Embodied AI</a:t>
            </a:r>
            <a:endParaRPr sz="4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54653" y="775250"/>
            <a:ext cx="14470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Suhwan Choi</a:t>
            </a:r>
            <a:r>
              <a:rPr baseline="30000"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, Jaeyoon Jung</a:t>
            </a:r>
            <a:r>
              <a:rPr baseline="30000"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, Haebin Seong</a:t>
            </a:r>
            <a:r>
              <a:rPr baseline="30000"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, Minchan Kim, Minyeong Kim, Yongjun Cho, Yoonshik Kim, Yubeen Park, Youngjae Yu</a:t>
            </a:r>
            <a:r>
              <a:rPr baseline="30000"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†</a:t>
            </a:r>
            <a:r>
              <a:rPr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, Yunsung Lee</a:t>
            </a:r>
            <a:r>
              <a:rPr baseline="30000" lang="en-US" sz="2814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†</a:t>
            </a:r>
            <a:endParaRPr b="0" baseline="30000" i="0" sz="2814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3"/>
          <p:cNvCxnSpPr/>
          <p:nvPr/>
        </p:nvCxnSpPr>
        <p:spPr>
          <a:xfrm>
            <a:off x="290190" y="1938254"/>
            <a:ext cx="28699800" cy="0"/>
          </a:xfrm>
          <a:prstGeom prst="straightConnector1">
            <a:avLst/>
          </a:prstGeom>
          <a:noFill/>
          <a:ln cap="flat" cmpd="sng" w="19050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3"/>
          <p:cNvCxnSpPr/>
          <p:nvPr/>
        </p:nvCxnSpPr>
        <p:spPr>
          <a:xfrm>
            <a:off x="15250766" y="2159800"/>
            <a:ext cx="0" cy="12394200"/>
          </a:xfrm>
          <a:prstGeom prst="straightConnector1">
            <a:avLst/>
          </a:prstGeom>
          <a:noFill/>
          <a:ln cap="flat" cmpd="sng" w="19050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3"/>
          <p:cNvSpPr/>
          <p:nvPr/>
        </p:nvSpPr>
        <p:spPr>
          <a:xfrm>
            <a:off x="21125648" y="882800"/>
            <a:ext cx="62748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56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256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Indicates equal contribution</a:t>
            </a:r>
            <a:endParaRPr sz="256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aseline="30000" lang="en-US" sz="256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†</a:t>
            </a:r>
            <a:r>
              <a:rPr lang="en-US" sz="256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Indicates co-corresponding</a:t>
            </a:r>
            <a:endParaRPr sz="256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8900" y="2050350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Why Desktop Data?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 b="0" l="36492" r="0" t="0"/>
          <a:stretch/>
        </p:blipFill>
        <p:spPr>
          <a:xfrm>
            <a:off x="158350" y="1006725"/>
            <a:ext cx="1604947" cy="81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title="B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6000" y="1251849"/>
            <a:ext cx="1628011" cy="3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title="Symbo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4500" y="404706"/>
            <a:ext cx="951000" cy="815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60850" t="0"/>
          <a:stretch/>
        </p:blipFill>
        <p:spPr>
          <a:xfrm>
            <a:off x="466125" y="187400"/>
            <a:ext cx="989402" cy="8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6">
            <a:alphaModFix/>
          </a:blip>
          <a:srcRect b="0" l="22137" r="0" t="0"/>
          <a:stretch/>
        </p:blipFill>
        <p:spPr>
          <a:xfrm>
            <a:off x="25769725" y="1162483"/>
            <a:ext cx="1275601" cy="574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6">
            <a:alphaModFix/>
          </a:blip>
          <a:srcRect b="0" l="0" r="78068" t="0"/>
          <a:stretch/>
        </p:blipFill>
        <p:spPr>
          <a:xfrm>
            <a:off x="26087125" y="263962"/>
            <a:ext cx="640801" cy="1024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56600" y="504319"/>
            <a:ext cx="1897700" cy="1085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52725" y="2702225"/>
            <a:ext cx="4718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50" lIns="186150" spcFirstLastPara="1" rIns="186150" wrap="square" tIns="93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Data Scalability</a:t>
            </a:r>
            <a:endParaRPr sz="2749"/>
          </a:p>
        </p:txBody>
      </p:sp>
      <p:cxnSp>
        <p:nvCxnSpPr>
          <p:cNvPr id="103" name="Google Shape;103;p13"/>
          <p:cNvCxnSpPr/>
          <p:nvPr/>
        </p:nvCxnSpPr>
        <p:spPr>
          <a:xfrm>
            <a:off x="5000350" y="2156002"/>
            <a:ext cx="0" cy="12384000"/>
          </a:xfrm>
          <a:prstGeom prst="straightConnector1">
            <a:avLst/>
          </a:prstGeom>
          <a:noFill/>
          <a:ln cap="flat" cmpd="sng" w="19050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4" name="Google Shape;104;p13" title="main-fig.png"/>
          <p:cNvPicPr preferRelativeResize="0"/>
          <p:nvPr/>
        </p:nvPicPr>
        <p:blipFill rotWithShape="1">
          <a:blip r:embed="rId8">
            <a:alphaModFix/>
          </a:blip>
          <a:srcRect b="0" l="0" r="0" t="21371"/>
          <a:stretch/>
        </p:blipFill>
        <p:spPr>
          <a:xfrm>
            <a:off x="5114375" y="2761525"/>
            <a:ext cx="10042527" cy="403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title="main-fig.png"/>
          <p:cNvPicPr preferRelativeResize="0"/>
          <p:nvPr/>
        </p:nvPicPr>
        <p:blipFill rotWithShape="1">
          <a:blip r:embed="rId8">
            <a:alphaModFix/>
          </a:blip>
          <a:srcRect b="78194" l="18971" r="40768" t="0"/>
          <a:stretch/>
        </p:blipFill>
        <p:spPr>
          <a:xfrm>
            <a:off x="197296" y="3435591"/>
            <a:ext cx="4522476" cy="125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title="main-fig.png"/>
          <p:cNvPicPr preferRelativeResize="0"/>
          <p:nvPr/>
        </p:nvPicPr>
        <p:blipFill rotWithShape="1">
          <a:blip r:embed="rId8">
            <a:alphaModFix/>
          </a:blip>
          <a:srcRect b="78194" l="59080" r="0" t="0"/>
          <a:stretch/>
        </p:blipFill>
        <p:spPr>
          <a:xfrm>
            <a:off x="160262" y="4872518"/>
            <a:ext cx="4596541" cy="1252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148793" y="6228378"/>
            <a:ext cx="4718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50" lIns="186150" spcFirstLastPara="1" rIns="186150" wrap="square" tIns="93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Gaming Is Teleoperating the Protagonist</a:t>
            </a:r>
            <a:endParaRPr sz="19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3" title="owa_toolkit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14350" y="7495100"/>
            <a:ext cx="9246899" cy="3060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49920" y="6833514"/>
            <a:ext cx="1679905" cy="91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91533" y="6834595"/>
            <a:ext cx="1286139" cy="85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7126" y="6922150"/>
            <a:ext cx="1492451" cy="839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5218929" y="2050350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5218929" y="6886063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OWA Toolkit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13">
            <a:alphaModFix/>
          </a:blip>
          <a:srcRect b="23571" l="0" r="49794" t="0"/>
          <a:stretch/>
        </p:blipFill>
        <p:spPr>
          <a:xfrm>
            <a:off x="25536775" y="2492608"/>
            <a:ext cx="3453225" cy="118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13">
            <a:alphaModFix/>
          </a:blip>
          <a:srcRect b="23571" l="49794" r="0" t="0"/>
          <a:stretch/>
        </p:blipFill>
        <p:spPr>
          <a:xfrm>
            <a:off x="25536775" y="4141992"/>
            <a:ext cx="3453302" cy="1180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15344616" y="2120922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Generalist-IDM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25884904" y="3643507"/>
            <a:ext cx="275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75" lIns="124050" spcFirstLastPara="1" rIns="124050" wrap="square" tIns="61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G-IDM Evaluation Results on 2D Games</a:t>
            </a:r>
            <a:endParaRPr sz="1628"/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14">
            <a:alphaModFix/>
          </a:blip>
          <a:srcRect b="50515" l="0" r="0" t="0"/>
          <a:stretch/>
        </p:blipFill>
        <p:spPr>
          <a:xfrm>
            <a:off x="15375475" y="6089906"/>
            <a:ext cx="2320404" cy="98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25884939" y="5309154"/>
            <a:ext cx="275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75" lIns="124050" spcFirstLastPara="1" rIns="124050" wrap="square" tIns="61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G-IDM Evaluation Results on 3D Games</a:t>
            </a:r>
            <a:endParaRPr sz="1628"/>
          </a:p>
        </p:txBody>
      </p:sp>
      <p:pic>
        <p:nvPicPr>
          <p:cNvPr id="120" name="Google Shape;120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782665" y="5682876"/>
            <a:ext cx="3032126" cy="172536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/>
        </p:nvSpPr>
        <p:spPr>
          <a:xfrm>
            <a:off x="25884904" y="7408224"/>
            <a:ext cx="275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75" lIns="124050" spcFirstLastPara="1" rIns="124050" wrap="square" tIns="61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G-IDM Out-of-Distribution Performance</a:t>
            </a:r>
            <a:endParaRPr sz="1628"/>
          </a:p>
        </p:txBody>
      </p:sp>
      <p:pic>
        <p:nvPicPr>
          <p:cNvPr id="122" name="Google Shape;122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76735" y="12075875"/>
            <a:ext cx="3272049" cy="129024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/>
        </p:nvSpPr>
        <p:spPr>
          <a:xfrm>
            <a:off x="5218929" y="11294325"/>
            <a:ext cx="29691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8220893" y="13366121"/>
            <a:ext cx="338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x264 Parameters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FSLDataset Construction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Batch Decoding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3" title="fsl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604605" y="12256110"/>
            <a:ext cx="3289073" cy="19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322929" y="12513109"/>
            <a:ext cx="2838617" cy="1222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/>
          <p:nvPr/>
        </p:nvSpPr>
        <p:spPr>
          <a:xfrm>
            <a:off x="5019091" y="13735800"/>
            <a:ext cx="3453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Throughput (InternVL3-1B)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5344616" y="8496647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Evaluation Results of D2E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2726" y="12238888"/>
            <a:ext cx="1485975" cy="14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20">
            <a:alphaModFix/>
          </a:blip>
          <a:srcRect b="14156" l="0" r="0" t="0"/>
          <a:stretch/>
        </p:blipFill>
        <p:spPr>
          <a:xfrm>
            <a:off x="15437716" y="9277822"/>
            <a:ext cx="5322573" cy="165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21">
            <a:alphaModFix/>
          </a:blip>
          <a:srcRect b="29264" l="0" r="0" t="0"/>
          <a:stretch/>
        </p:blipFill>
        <p:spPr>
          <a:xfrm>
            <a:off x="15391991" y="11248509"/>
            <a:ext cx="5322573" cy="880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22">
            <a:alphaModFix/>
          </a:blip>
          <a:srcRect b="18307" l="0" r="0" t="0"/>
          <a:stretch/>
        </p:blipFill>
        <p:spPr>
          <a:xfrm>
            <a:off x="15391991" y="12439822"/>
            <a:ext cx="5322573" cy="103181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16779891" y="10879416"/>
            <a:ext cx="2918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600" lIns="131300" spcFirstLastPara="1" rIns="131300" wrap="square" tIns="656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LIBERO Manipulation Results</a:t>
            </a:r>
            <a:endParaRPr sz="1723"/>
          </a:p>
        </p:txBody>
      </p:sp>
      <p:sp>
        <p:nvSpPr>
          <p:cNvPr id="134" name="Google Shape;134;p13"/>
          <p:cNvSpPr txBox="1"/>
          <p:nvPr/>
        </p:nvSpPr>
        <p:spPr>
          <a:xfrm>
            <a:off x="16779891" y="12030554"/>
            <a:ext cx="2918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600" lIns="131300" spcFirstLastPara="1" rIns="131300" wrap="square" tIns="656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CANVAS Navigation Results</a:t>
            </a:r>
            <a:endParaRPr sz="1723"/>
          </a:p>
        </p:txBody>
      </p:sp>
      <p:sp>
        <p:nvSpPr>
          <p:cNvPr id="135" name="Google Shape;135;p13"/>
          <p:cNvSpPr txBox="1"/>
          <p:nvPr/>
        </p:nvSpPr>
        <p:spPr>
          <a:xfrm>
            <a:off x="16779891" y="13474879"/>
            <a:ext cx="2918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600" lIns="131300" spcFirstLastPara="1" rIns="131300" wrap="square" tIns="656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Meta-World &amp; SO101 Real-World Results</a:t>
            </a:r>
            <a:endParaRPr sz="1723"/>
          </a:p>
        </p:txBody>
      </p:sp>
      <p:sp>
        <p:nvSpPr>
          <p:cNvPr id="136" name="Google Shape;136;p13"/>
          <p:cNvSpPr/>
          <p:nvPr/>
        </p:nvSpPr>
        <p:spPr>
          <a:xfrm>
            <a:off x="15511975" y="13805700"/>
            <a:ext cx="8932500" cy="653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96.6% LIBERO, 83.3% CANVAS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1.3K hours of desktop gaming data pretrain a 1B model that matches 7× larger robotics models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5511980" y="7847625"/>
            <a:ext cx="13478100" cy="710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One model, all games: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G-IDM outperforms per-game specialists and pseudo-labels 1K+ hours of YouTube gameplay for ~$800 (G-IDM training cost).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23">
            <a:alphaModFix/>
          </a:blip>
          <a:srcRect b="5509" l="0" r="0" t="0"/>
          <a:stretch/>
        </p:blipFill>
        <p:spPr>
          <a:xfrm>
            <a:off x="21002895" y="9415913"/>
            <a:ext cx="3369520" cy="113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21069065" y="10463296"/>
            <a:ext cx="962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7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(42%)</a:t>
            </a:r>
            <a:endParaRPr sz="1389"/>
          </a:p>
        </p:txBody>
      </p:sp>
      <p:sp>
        <p:nvSpPr>
          <p:cNvPr id="140" name="Google Shape;140;p13"/>
          <p:cNvSpPr txBox="1"/>
          <p:nvPr/>
        </p:nvSpPr>
        <p:spPr>
          <a:xfrm>
            <a:off x="22129524" y="10463283"/>
            <a:ext cx="111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+VAPT w/o pseudo (98%)</a:t>
            </a:r>
            <a:endParaRPr sz="1389"/>
          </a:p>
        </p:txBody>
      </p:sp>
      <p:sp>
        <p:nvSpPr>
          <p:cNvPr id="141" name="Google Shape;141;p13"/>
          <p:cNvSpPr txBox="1"/>
          <p:nvPr/>
        </p:nvSpPr>
        <p:spPr>
          <a:xfrm>
            <a:off x="23245786" y="10463296"/>
            <a:ext cx="111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+VAPT w/ pseudo (100%)</a:t>
            </a:r>
            <a:endParaRPr sz="1389"/>
          </a:p>
        </p:txBody>
      </p:sp>
      <p:pic>
        <p:nvPicPr>
          <p:cNvPr id="142" name="Google Shape;142;p1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1465407" y="12380986"/>
            <a:ext cx="2467179" cy="92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0947250" y="11273961"/>
            <a:ext cx="3453225" cy="60335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21316257" y="11846079"/>
            <a:ext cx="962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389"/>
          </a:p>
        </p:txBody>
      </p:sp>
      <p:sp>
        <p:nvSpPr>
          <p:cNvPr id="145" name="Google Shape;145;p13"/>
          <p:cNvSpPr txBox="1"/>
          <p:nvPr/>
        </p:nvSpPr>
        <p:spPr>
          <a:xfrm>
            <a:off x="23035175" y="11846066"/>
            <a:ext cx="1116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+VAPT w/ pseudo</a:t>
            </a:r>
            <a:endParaRPr sz="1389"/>
          </a:p>
        </p:txBody>
      </p:sp>
      <p:sp>
        <p:nvSpPr>
          <p:cNvPr id="146" name="Google Shape;146;p13"/>
          <p:cNvSpPr txBox="1"/>
          <p:nvPr/>
        </p:nvSpPr>
        <p:spPr>
          <a:xfrm>
            <a:off x="21596539" y="13305531"/>
            <a:ext cx="962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389"/>
          </a:p>
        </p:txBody>
      </p:sp>
      <p:sp>
        <p:nvSpPr>
          <p:cNvPr id="147" name="Google Shape;147;p13"/>
          <p:cNvSpPr txBox="1"/>
          <p:nvPr/>
        </p:nvSpPr>
        <p:spPr>
          <a:xfrm>
            <a:off x="22771832" y="13305518"/>
            <a:ext cx="1116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75" lIns="137850" spcFirstLastPara="1" rIns="137850" wrap="square" tIns="68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+VAPT w/ pseudo</a:t>
            </a:r>
            <a:endParaRPr sz="1389"/>
          </a:p>
        </p:txBody>
      </p:sp>
      <p:sp>
        <p:nvSpPr>
          <p:cNvPr id="148" name="Google Shape;148;p13"/>
          <p:cNvSpPr/>
          <p:nvPr/>
        </p:nvSpPr>
        <p:spPr>
          <a:xfrm>
            <a:off x="5689184" y="10680621"/>
            <a:ext cx="9246900" cy="386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7300" lIns="97300" spcFirstLastPara="1" rIns="97300" wrap="square" tIns="9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6">
                <a:latin typeface="Calibri"/>
                <a:ea typeface="Calibri"/>
                <a:cs typeface="Calibri"/>
                <a:sym typeface="Calibri"/>
              </a:rPr>
              <a:t>From screen to GPU: synchronized 60Hz capture, 152× compression, and 10× faster training</a:t>
            </a:r>
            <a:endParaRPr sz="149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81937" y="13990100"/>
            <a:ext cx="4729200" cy="36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All resources (codes, models, datasets) are publicly available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26">
            <a:alphaModFix/>
          </a:blip>
          <a:srcRect b="59817" l="0" r="0" t="0"/>
          <a:stretch/>
        </p:blipFill>
        <p:spPr>
          <a:xfrm>
            <a:off x="15401201" y="2931137"/>
            <a:ext cx="4579992" cy="111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26">
            <a:alphaModFix/>
          </a:blip>
          <a:srcRect b="4635" l="0" r="0" t="50578"/>
          <a:stretch/>
        </p:blipFill>
        <p:spPr>
          <a:xfrm>
            <a:off x="15401201" y="4241231"/>
            <a:ext cx="4579992" cy="124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14">
            <a:alphaModFix/>
          </a:blip>
          <a:srcRect b="0" l="0" r="0" t="48956"/>
          <a:stretch/>
        </p:blipFill>
        <p:spPr>
          <a:xfrm>
            <a:off x="17695877" y="6074466"/>
            <a:ext cx="2320404" cy="10120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 txBox="1"/>
          <p:nvPr/>
        </p:nvSpPr>
        <p:spPr>
          <a:xfrm>
            <a:off x="15883711" y="5663195"/>
            <a:ext cx="3615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G-IDM Pseudo-Label Results on YouTube Game Videos</a:t>
            </a:r>
            <a:endParaRPr b="1" sz="1656"/>
          </a:p>
        </p:txBody>
      </p:sp>
      <p:sp>
        <p:nvSpPr>
          <p:cNvPr id="154" name="Google Shape;154;p13"/>
          <p:cNvSpPr txBox="1"/>
          <p:nvPr/>
        </p:nvSpPr>
        <p:spPr>
          <a:xfrm>
            <a:off x="15511938" y="3988424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Brotato</a:t>
            </a:r>
            <a:endParaRPr sz="1367"/>
          </a:p>
        </p:txBody>
      </p:sp>
      <p:sp>
        <p:nvSpPr>
          <p:cNvPr id="155" name="Google Shape;155;p13"/>
          <p:cNvSpPr txBox="1"/>
          <p:nvPr/>
        </p:nvSpPr>
        <p:spPr>
          <a:xfrm>
            <a:off x="17054878" y="3988424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CSGO2</a:t>
            </a:r>
            <a:endParaRPr sz="1367"/>
          </a:p>
        </p:txBody>
      </p:sp>
      <p:sp>
        <p:nvSpPr>
          <p:cNvPr id="156" name="Google Shape;156;p13"/>
          <p:cNvSpPr txBox="1"/>
          <p:nvPr/>
        </p:nvSpPr>
        <p:spPr>
          <a:xfrm>
            <a:off x="18597805" y="3988424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Stardew Valley</a:t>
            </a:r>
            <a:endParaRPr sz="81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18597805" y="5410397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Barony</a:t>
            </a:r>
            <a:endParaRPr sz="1367"/>
          </a:p>
        </p:txBody>
      </p:sp>
      <p:sp>
        <p:nvSpPr>
          <p:cNvPr id="158" name="Google Shape;158;p13"/>
          <p:cNvSpPr txBox="1"/>
          <p:nvPr/>
        </p:nvSpPr>
        <p:spPr>
          <a:xfrm>
            <a:off x="17055298" y="5410397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Raft</a:t>
            </a:r>
            <a:endParaRPr sz="1367"/>
          </a:p>
        </p:txBody>
      </p:sp>
      <p:sp>
        <p:nvSpPr>
          <p:cNvPr id="159" name="Google Shape;159;p13"/>
          <p:cNvSpPr txBox="1"/>
          <p:nvPr/>
        </p:nvSpPr>
        <p:spPr>
          <a:xfrm>
            <a:off x="15512791" y="5410397"/>
            <a:ext cx="12717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Slime Rancher</a:t>
            </a:r>
            <a:endParaRPr sz="81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16289281" y="7206484"/>
            <a:ext cx="280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025" lIns="126150" spcFirstLastPara="1" rIns="126150" wrap="square" tIns="63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G-IDM Prediction Trajectory of Battlefield 6</a:t>
            </a:r>
            <a:endParaRPr b="1" sz="1656"/>
          </a:p>
        </p:txBody>
      </p:sp>
      <p:sp>
        <p:nvSpPr>
          <p:cNvPr id="161" name="Google Shape;161;p13"/>
          <p:cNvSpPr/>
          <p:nvPr/>
        </p:nvSpPr>
        <p:spPr>
          <a:xfrm>
            <a:off x="1578325" y="12075875"/>
            <a:ext cx="3289200" cy="1703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worv-ai.github.io/d2e/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Inference &amp; evaluation code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Datasets + interactive viewer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Live demo on HF Spaces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Pretrained model weights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3"/>
          <p:cNvCxnSpPr/>
          <p:nvPr/>
        </p:nvCxnSpPr>
        <p:spPr>
          <a:xfrm>
            <a:off x="24653600" y="8747200"/>
            <a:ext cx="0" cy="5797800"/>
          </a:xfrm>
          <a:prstGeom prst="straightConnector1">
            <a:avLst/>
          </a:prstGeom>
          <a:noFill/>
          <a:ln cap="flat" cmpd="sng" w="19050">
            <a:solidFill>
              <a:srgbClr val="D0CEC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13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0384563" y="2652548"/>
            <a:ext cx="1485981" cy="109593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 txBox="1"/>
          <p:nvPr/>
        </p:nvSpPr>
        <p:spPr>
          <a:xfrm>
            <a:off x="20482087" y="5291875"/>
            <a:ext cx="4442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425" lIns="138950" spcFirstLastPara="1" rIns="138950" wrap="square" tIns="69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1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Pseudo-Labeling Sequence Example from In-the-Wild YouTube</a:t>
            </a:r>
            <a:endParaRPr b="1" sz="1824"/>
          </a:p>
        </p:txBody>
      </p:sp>
      <p:pic>
        <p:nvPicPr>
          <p:cNvPr id="165" name="Google Shape;165;p13"/>
          <p:cNvPicPr preferRelativeResize="0"/>
          <p:nvPr/>
        </p:nvPicPr>
        <p:blipFill rotWithShape="1">
          <a:blip r:embed="rId28">
            <a:alphaModFix/>
          </a:blip>
          <a:srcRect b="0" l="0" r="0" t="1274"/>
          <a:stretch/>
        </p:blipFill>
        <p:spPr>
          <a:xfrm>
            <a:off x="20441650" y="5821367"/>
            <a:ext cx="2340904" cy="1584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3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2875531" y="5821370"/>
            <a:ext cx="2311518" cy="158423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3"/>
          <p:cNvSpPr txBox="1"/>
          <p:nvPr/>
        </p:nvSpPr>
        <p:spPr>
          <a:xfrm>
            <a:off x="21452050" y="7395475"/>
            <a:ext cx="27246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8425" lIns="116950" spcFirstLastPara="1" rIns="116950" wrap="square" tIns="58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 Dataset Visualizer (Publicly Available)</a:t>
            </a:r>
            <a:endParaRPr b="1" sz="1635"/>
          </a:p>
        </p:txBody>
      </p:sp>
      <p:pic>
        <p:nvPicPr>
          <p:cNvPr id="168" name="Google Shape;168;p13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22073701" y="2662512"/>
            <a:ext cx="1458989" cy="107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23735857" y="2662499"/>
            <a:ext cx="1458970" cy="10759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 txBox="1"/>
          <p:nvPr/>
        </p:nvSpPr>
        <p:spPr>
          <a:xfrm>
            <a:off x="21162112" y="3714892"/>
            <a:ext cx="32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725" lIns="131550" spcFirstLastPara="1" rIns="131550" wrap="square" tIns="657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Weapon Change and Get Ready to Battle (CSGO2)</a:t>
            </a:r>
            <a:endParaRPr sz="1426"/>
          </a:p>
        </p:txBody>
      </p:sp>
      <p:cxnSp>
        <p:nvCxnSpPr>
          <p:cNvPr id="171" name="Google Shape;171;p13"/>
          <p:cNvCxnSpPr>
            <a:stCxn id="163" idx="3"/>
            <a:endCxn id="168" idx="1"/>
          </p:cNvCxnSpPr>
          <p:nvPr/>
        </p:nvCxnSpPr>
        <p:spPr>
          <a:xfrm>
            <a:off x="21870543" y="3200513"/>
            <a:ext cx="203100" cy="0"/>
          </a:xfrm>
          <a:prstGeom prst="straightConnector1">
            <a:avLst/>
          </a:prstGeom>
          <a:noFill/>
          <a:ln cap="flat" cmpd="sng" w="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3"/>
          <p:cNvCxnSpPr>
            <a:stCxn id="168" idx="3"/>
            <a:endCxn id="169" idx="1"/>
          </p:cNvCxnSpPr>
          <p:nvPr/>
        </p:nvCxnSpPr>
        <p:spPr>
          <a:xfrm>
            <a:off x="23532690" y="3200517"/>
            <a:ext cx="203100" cy="0"/>
          </a:xfrm>
          <a:prstGeom prst="straightConnector1">
            <a:avLst/>
          </a:prstGeom>
          <a:noFill/>
          <a:ln cap="flat" cmpd="sng" w="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3" name="Google Shape;173;p13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0449454" y="3970808"/>
            <a:ext cx="1421086" cy="1132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3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3758147" y="3970821"/>
            <a:ext cx="1421086" cy="1132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3"/>
          <p:cNvCxnSpPr>
            <a:stCxn id="173" idx="3"/>
            <a:endCxn id="176" idx="1"/>
          </p:cNvCxnSpPr>
          <p:nvPr/>
        </p:nvCxnSpPr>
        <p:spPr>
          <a:xfrm>
            <a:off x="21870540" y="4537035"/>
            <a:ext cx="233400" cy="0"/>
          </a:xfrm>
          <a:prstGeom prst="straightConnector1">
            <a:avLst/>
          </a:prstGeom>
          <a:noFill/>
          <a:ln cap="flat" cmpd="sng" w="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6" name="Google Shape;176;p13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22103801" y="3970820"/>
            <a:ext cx="1421090" cy="113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3"/>
          <p:cNvCxnSpPr>
            <a:stCxn id="176" idx="3"/>
            <a:endCxn id="174" idx="1"/>
          </p:cNvCxnSpPr>
          <p:nvPr/>
        </p:nvCxnSpPr>
        <p:spPr>
          <a:xfrm>
            <a:off x="23524890" y="4537033"/>
            <a:ext cx="233400" cy="0"/>
          </a:xfrm>
          <a:prstGeom prst="straightConnector1">
            <a:avLst/>
          </a:prstGeom>
          <a:noFill/>
          <a:ln cap="flat" cmpd="sng" w="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13"/>
          <p:cNvSpPr txBox="1"/>
          <p:nvPr/>
        </p:nvSpPr>
        <p:spPr>
          <a:xfrm>
            <a:off x="21162112" y="5095471"/>
            <a:ext cx="3282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5725" lIns="131550" spcFirstLastPara="1" rIns="131550" wrap="square" tIns="657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Jump as Far as Possible to Minimize Slow-Speed Swimming (Dinkum)</a:t>
            </a:r>
            <a:endParaRPr sz="1426"/>
          </a:p>
        </p:txBody>
      </p:sp>
      <p:sp>
        <p:nvSpPr>
          <p:cNvPr id="179" name="Google Shape;179;p13"/>
          <p:cNvSpPr txBox="1"/>
          <p:nvPr/>
        </p:nvSpPr>
        <p:spPr>
          <a:xfrm>
            <a:off x="88900" y="8013650"/>
            <a:ext cx="56100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Why Transfer Works?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3" title="libero_loss_ema10_tueplot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4862725" y="10723746"/>
            <a:ext cx="4026030" cy="2820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3" title="canvas_loss_ema10_tueplot.png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25936800" y="9107975"/>
            <a:ext cx="2030090" cy="124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25554441" y="10354968"/>
            <a:ext cx="279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325" spcFirstLastPara="1" rIns="11432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Loss Curves for CANVAS (Navigation)</a:t>
            </a:r>
            <a:endParaRPr sz="1500"/>
          </a:p>
        </p:txBody>
      </p:sp>
      <p:sp>
        <p:nvSpPr>
          <p:cNvPr id="183" name="Google Shape;183;p13"/>
          <p:cNvSpPr txBox="1"/>
          <p:nvPr/>
        </p:nvSpPr>
        <p:spPr>
          <a:xfrm>
            <a:off x="25478377" y="13563453"/>
            <a:ext cx="279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325" spcFirstLastPara="1" rIns="11432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Loss Curves for LIBERO</a:t>
            </a:r>
            <a:endParaRPr sz="1500"/>
          </a:p>
        </p:txBody>
      </p:sp>
      <p:sp>
        <p:nvSpPr>
          <p:cNvPr id="184" name="Google Shape;184;p13"/>
          <p:cNvSpPr/>
          <p:nvPr/>
        </p:nvSpPr>
        <p:spPr>
          <a:xfrm>
            <a:off x="24827425" y="13917050"/>
            <a:ext cx="4162500" cy="542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Stable Training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VAPT shows immediate convergence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4653606" y="8496650"/>
            <a:ext cx="34533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4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Training Stability</a:t>
            </a:r>
            <a:endParaRPr b="1" sz="3214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156650" y="8692850"/>
            <a:ext cx="4625100" cy="32808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Action Modality Alignment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VAPT trains on vision-action trajectories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→ Learns how observations map to control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Goal-Directed Sequential Reasoning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Visual grounding + temporal planning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→ Same skills as robotic control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High Diversity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Games across 2D/3D, FPS/TPS/top-down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→ General-purpose control priors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483811" y="129048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🤗</a:t>
            </a:r>
            <a:endParaRPr sz="4100"/>
          </a:p>
        </p:txBody>
      </p:sp>
      <p:pic>
        <p:nvPicPr>
          <p:cNvPr id="188" name="Google Shape;188;p13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1663400" y="12280900"/>
            <a:ext cx="640800" cy="6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